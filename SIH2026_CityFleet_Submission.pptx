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0" cy="0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48640" y="45720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F2240"/>
                </a:solidFill>
                <a:latin typeface="Calibri"/>
              </a:defRPr>
            </a:pPr>
            <a:r>
              <a:t>SMART INDIA HACKATHON 2026</a:t>
            </a:r>
          </a:p>
          <a:p>
            <a:pPr>
              <a:defRPr sz="1300" b="1">
                <a:solidFill>
                  <a:srgbClr val="00529B"/>
                </a:solidFill>
                <a:latin typeface="Calibri"/>
              </a:defRPr>
            </a:pPr>
            <a:r>
              <a:t>IDEA SUBMISSION — TITLE PAGE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1508760"/>
            <a:ext cx="685800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0F2240"/>
                </a:solidFill>
                <a:latin typeface="Calibri"/>
              </a:rPr>
              <a:t>• Problem Statement ID:</a:t>
            </a:r>
            <a:r>
              <a:rPr sz="1350" b="1">
                <a:solidFill>
                  <a:srgbClr val="00529B"/>
                </a:solidFill>
                <a:latin typeface="Calibri"/>
              </a:rPr>
              <a:t> SIH26124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2240"/>
                </a:solidFill>
                <a:latin typeface="Calibri"/>
              </a:rPr>
              <a:t>• Problem Statement Title:</a:t>
            </a:r>
            <a:r>
              <a:rPr sz="1350" b="0">
                <a:solidFill>
                  <a:srgbClr val="1E232D"/>
                </a:solidFill>
                <a:latin typeface="Calibri"/>
              </a:rPr>
              <a:t> AI-Powered Mobile Urban Intelligence Platform Using Public Transport Fleet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2240"/>
                </a:solidFill>
                <a:latin typeface="Calibri"/>
              </a:rPr>
              <a:t>• Theme:</a:t>
            </a:r>
            <a:r>
              <a:rPr sz="1350" b="0">
                <a:solidFill>
                  <a:srgbClr val="1E232D"/>
                </a:solidFill>
                <a:latin typeface="Calibri"/>
              </a:rPr>
              <a:t> Smart Automation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2240"/>
                </a:solidFill>
                <a:latin typeface="Calibri"/>
              </a:rPr>
              <a:t>• PS Category:</a:t>
            </a:r>
            <a:r>
              <a:rPr sz="1350" b="0">
                <a:solidFill>
                  <a:srgbClr val="1E232D"/>
                </a:solidFill>
                <a:latin typeface="Calibri"/>
              </a:rPr>
              <a:t> Software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2240"/>
                </a:solidFill>
                <a:latin typeface="Calibri"/>
              </a:rPr>
              <a:t>• Organization:</a:t>
            </a:r>
            <a:r>
              <a:rPr sz="1350" b="0">
                <a:solidFill>
                  <a:srgbClr val="1E232D"/>
                </a:solidFill>
                <a:latin typeface="Calibri"/>
              </a:rPr>
              <a:t> Bharat Electronics Limited (BEL)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2240"/>
                </a:solidFill>
                <a:latin typeface="Calibri"/>
              </a:rPr>
              <a:t>• Team ID:</a:t>
            </a:r>
            <a:r>
              <a:rPr sz="1350" b="1">
                <a:solidFill>
                  <a:srgbClr val="00529B"/>
                </a:solidFill>
                <a:latin typeface="Calibri"/>
              </a:rPr>
              <a:t> SIH26-LBS-007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2240"/>
                </a:solidFill>
                <a:latin typeface="Calibri"/>
              </a:rPr>
              <a:t>• Team Name (Registered):</a:t>
            </a:r>
            <a:r>
              <a:rPr sz="1350" b="1">
                <a:solidFill>
                  <a:srgbClr val="BE3C14"/>
                </a:solidFill>
                <a:latin typeface="Calibri"/>
              </a:rPr>
              <a:t> The Spartiates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2240"/>
                </a:solidFill>
                <a:latin typeface="Calibri"/>
              </a:rPr>
              <a:t>• Idea / Project Title:</a:t>
            </a:r>
            <a:r>
              <a:rPr sz="1350" b="0">
                <a:solidFill>
                  <a:srgbClr val="1E232D"/>
                </a:solidFill>
                <a:latin typeface="Calibri"/>
              </a:rPr>
              <a:t> CityFleet AI — Mobile Urban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148840" y="182880"/>
            <a:ext cx="7498079" cy="777240"/>
          </a:xfrm>
        </p:spPr>
        <p:txBody>
          <a:bodyPr wrap="square" lIns="45720"/>
          <a:lstStyle/>
          <a:p>
            <a:pPr eaLnBrk="1" hangingPunct="1" algn="l">
              <a:defRPr sz="2000" b="1">
                <a:solidFill>
                  <a:srgbClr val="0F2240"/>
                </a:solidFill>
                <a:latin typeface="Calibri"/>
              </a:defRPr>
            </a:pPr>
            <a:r>
              <a:t>IDEA TITLE: CityFleet AI — Mobile Urban Intelligence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201168"/>
            <a:ext cx="1691640" cy="640080"/>
          </a:xfrm>
          <a:prstGeom prst="ellipse">
            <a:avLst/>
          </a:prstGeom>
          <a:solidFill>
            <a:srgbClr val="F0F5FF"/>
          </a:solidFill>
          <a:ln w="19050">
            <a:solidFill>
              <a:srgbClr val="0078D7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0F2240"/>
                </a:solidFill>
                <a:latin typeface="Calibri"/>
              </a:defRPr>
            </a:pPr>
            <a:r>
              <a:t>The Spartiates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548640" y="1143000"/>
            <a:ext cx="11091672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00529B"/>
                </a:solidFill>
                <a:latin typeface="Calibri"/>
              </a:defRPr>
            </a:pPr>
            <a:r>
              <a:t>PROPOSED SOLUTION (IDEA OVERVIEW)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Distributed Mobile Sensing Grid: </a:t>
            </a:r>
            <a:r>
              <a:rPr sz="1150">
                <a:solidFill>
                  <a:srgbClr val="1E232D"/>
                </a:solidFill>
                <a:latin typeface="Calibri"/>
              </a:rPr>
              <a:t>Turns scheduled public transit buses into an autonomous city-wide road and traffic sensing network without deploying expensive stationary roadside sensors.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Edge-to-Cloud Intelligence: </a:t>
            </a:r>
            <a:r>
              <a:rPr sz="1150">
                <a:solidFill>
                  <a:srgbClr val="1E232D"/>
                </a:solidFill>
                <a:latin typeface="Calibri"/>
              </a:rPr>
              <a:t>Bus-mounted cameras perform real-time edge defect detection, streaming lightweight JSON summaries (~2 KB) to a central municipal GIS command platform.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00529B"/>
                </a:solidFill>
                <a:latin typeface="Calibri"/>
              </a:defRPr>
            </a:pPr>
            <a:r>
              <a:t>HOW IT ADDRESSES THE PROBLEM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Continuous &amp; Proactive Auditing: </a:t>
            </a:r>
            <a:r>
              <a:rPr sz="1150">
                <a:solidFill>
                  <a:srgbClr val="1E232D"/>
                </a:solidFill>
                <a:latin typeface="Calibri"/>
              </a:rPr>
              <a:t>Replaces subjective, delayed citizen grievance reports with automated, timestamped, GPS-verified road health surveys.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Zero Infrastructure Capex: </a:t>
            </a:r>
            <a:r>
              <a:rPr sz="1150">
                <a:solidFill>
                  <a:srgbClr val="1E232D"/>
                </a:solidFill>
                <a:latin typeface="Calibri"/>
              </a:rPr>
              <a:t>Operates directly on existing public bus fleets, saving over 85% in road survey costs compared to dedicated inspection vehicles.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00529B"/>
                </a:solidFill>
                <a:latin typeface="Calibri"/>
              </a:defRPr>
            </a:pPr>
            <a:r>
              <a:t>INNOVATION &amp; UNIQUENESS OF THE SOLUTION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Multi-Bus Spatial-Temporal Fusion: </a:t>
            </a:r>
            <a:r>
              <a:rPr sz="1150">
                <a:solidFill>
                  <a:srgbClr val="1E232D"/>
                </a:solidFill>
                <a:latin typeface="Calibri"/>
              </a:rPr>
              <a:t>Cross-validates defect coordinates across multiple buses, escalating event confidence from 88% to 99.8% while suppressing false alarms.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Dynamic Road Health Index (RHI: 0–100): </a:t>
            </a:r>
            <a:r>
              <a:rPr sz="1150">
                <a:solidFill>
                  <a:srgbClr val="1E232D"/>
                </a:solidFill>
                <a:latin typeface="Calibri"/>
              </a:rPr>
              <a:t>Computes an objective, segment-wise degradation score (0–100) to auto-prioritize municipal repair tenders based on traffic exposure.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48840" y="182880"/>
            <a:ext cx="7498079" cy="777240"/>
          </a:xfrm>
        </p:spPr>
        <p:txBody>
          <a:bodyPr wrap="square" lIns="45720"/>
          <a:lstStyle/>
          <a:p>
            <a:pPr eaLnBrk="1" hangingPunct="1" algn="l">
              <a:defRPr sz="2000" b="1">
                <a:solidFill>
                  <a:srgbClr val="0F2240"/>
                </a:solidFill>
                <a:latin typeface="Calibri"/>
              </a:defRPr>
            </a:pPr>
            <a: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201168"/>
            <a:ext cx="1691640" cy="640080"/>
          </a:xfrm>
          <a:prstGeom prst="ellipse">
            <a:avLst/>
          </a:prstGeom>
          <a:solidFill>
            <a:srgbClr val="F0F5FF"/>
          </a:solidFill>
          <a:ln w="19050">
            <a:solidFill>
              <a:srgbClr val="0078D7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0F2240"/>
                </a:solidFill>
                <a:latin typeface="Calibri"/>
              </a:defRPr>
            </a:pPr>
            <a:r>
              <a:t>The Spartiates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48640" y="1143000"/>
            <a:ext cx="11091672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00529B"/>
                </a:solidFill>
                <a:latin typeface="Calibri"/>
              </a:defRPr>
            </a:pPr>
            <a:r>
              <a:t>TECHNOLOGIES TO BE USED (TECH STACK)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Edge Compute &amp; AI: </a:t>
            </a:r>
            <a:r>
              <a:rPr sz="1150">
                <a:solidFill>
                  <a:srgbClr val="1E232D"/>
                </a:solidFill>
                <a:latin typeface="Calibri"/>
              </a:rPr>
              <a:t>Python 3.11, OpenCV, YOLOv8/v11 (ONNX &amp; TensorRT runtime at 30+ FPS), ByteTrack multi-object tracker, local SQLite buffer queue.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Backend &amp; Geospatial Database: </a:t>
            </a:r>
            <a:r>
              <a:rPr sz="1150">
                <a:solidFill>
                  <a:srgbClr val="1E232D"/>
                </a:solidFill>
                <a:latin typeface="Calibri"/>
              </a:rPr>
              <a:t>FastAPI (Async REST &amp; WebSockets), PostgreSQL 16 + PostGIS (spatial indexing &amp; OSM road-snapping), Redis 7 (event broker), MinIO (S3 evidence crops).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GIS Command Center UI: </a:t>
            </a:r>
            <a:r>
              <a:rPr sz="1150">
                <a:solidFill>
                  <a:srgbClr val="1E232D"/>
                </a:solidFill>
                <a:latin typeface="Calibri"/>
              </a:rPr>
              <a:t>React 18, TypeScript, Vite, MapLibre GL JS / Deck.gl vector mapping, Tailwind CSS, Chart.js municipal analytics.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00529B"/>
                </a:solidFill>
                <a:latin typeface="Calibri"/>
              </a:defRPr>
            </a:pPr>
            <a:r>
              <a:t>METHODOLOGY &amp; IMPLEMENTATION PROCESS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1. Edge Perception &amp; Anonymization: </a:t>
            </a:r>
            <a:r>
              <a:rPr sz="1150">
                <a:solidFill>
                  <a:srgbClr val="1E232D"/>
                </a:solidFill>
                <a:latin typeface="Calibri"/>
              </a:rPr>
              <a:t>Dashcam video is processed on-device; detects potholes, cracks, ravelling, waterlogging, and counts traffic while blurring PII (faces/license plates).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2. Offline-Resilient Sync: </a:t>
            </a:r>
            <a:r>
              <a:rPr sz="1150">
                <a:solidFill>
                  <a:srgbClr val="1E232D"/>
                </a:solidFill>
                <a:latin typeface="Calibri"/>
              </a:rPr>
              <a:t>Lightweight JSON events (~2 KB) are transmitted via TLS MQTT; stored in local SQLite when traversing tunnels/dead zones and synced on reconnection.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3. Multi-Bus Fusion &amp; Decision Engine: </a:t>
            </a:r>
            <a:r>
              <a:rPr sz="1150">
                <a:solidFill>
                  <a:srgbClr val="1E232D"/>
                </a:solidFill>
                <a:latin typeface="Calibri"/>
              </a:rPr>
              <a:t>PostGIS clusters sightings within 15m radius, applies Bayesian consensus confidence [C_fused = 1 - ∏(1 - w_i*c_i)], and computes maintenance priority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48840" y="182880"/>
            <a:ext cx="7498079" cy="777240"/>
          </a:xfrm>
        </p:spPr>
        <p:txBody>
          <a:bodyPr wrap="square" lIns="45720"/>
          <a:lstStyle/>
          <a:p>
            <a:pPr eaLnBrk="1" hangingPunct="1" algn="l">
              <a:defRPr sz="2000" b="1">
                <a:solidFill>
                  <a:srgbClr val="0F2240"/>
                </a:solidFill>
                <a:latin typeface="Calibri"/>
              </a:defRPr>
            </a:pPr>
            <a:r>
              <a:t>FEASIBILITY, VIABILITY &amp; RISK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201168"/>
            <a:ext cx="1691640" cy="640080"/>
          </a:xfrm>
          <a:prstGeom prst="ellipse">
            <a:avLst/>
          </a:prstGeom>
          <a:solidFill>
            <a:srgbClr val="F0F5FF"/>
          </a:solidFill>
          <a:ln w="19050">
            <a:solidFill>
              <a:srgbClr val="0078D7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0F2240"/>
                </a:solidFill>
                <a:latin typeface="Calibri"/>
              </a:defRPr>
            </a:pPr>
            <a:r>
              <a:t>The Spartiates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48640" y="1143000"/>
            <a:ext cx="11091672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00529B"/>
                </a:solidFill>
                <a:latin typeface="Calibri"/>
              </a:defRPr>
            </a:pPr>
            <a:r>
              <a:t>ANALYSIS OF FEASIBILITY (TECHNICAL, OPERATIONAL &amp; ECONOMIC)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Technical Feasibility: </a:t>
            </a:r>
            <a:r>
              <a:rPr sz="1150">
                <a:solidFill>
                  <a:srgbClr val="1E232D"/>
                </a:solidFill>
                <a:latin typeface="Calibri"/>
              </a:rPr>
              <a:t>YOLOv8/11 models achieve 30+ FPS on edge hardware (Jetson / Mini-PC); validated on multi-national 47K+ road damage benchmark (RDD2022).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Operational Viability: </a:t>
            </a:r>
            <a:r>
              <a:rPr sz="1150">
                <a:solidFill>
                  <a:srgbClr val="1E232D"/>
                </a:solidFill>
                <a:latin typeface="Calibri"/>
              </a:rPr>
              <a:t>Zero route disruption; operates non-intrusively on scheduled municipal buses during normal transit without driver interaction.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Economic Viability: </a:t>
            </a:r>
            <a:r>
              <a:rPr sz="1150">
                <a:solidFill>
                  <a:srgbClr val="1E232D"/>
                </a:solidFill>
                <a:latin typeface="Calibri"/>
              </a:rPr>
              <a:t>Avoids expensive dedicated survey vehicle tenders; early micro-repairs save up to 10x in structural road reconstruction costs.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00529B"/>
                </a:solidFill>
                <a:latin typeface="Calibri"/>
              </a:defRPr>
            </a:pPr>
            <a:r>
              <a:t>POTENTIAL CHALLENGES, RISKS &amp; MITIGATION STRATEGIES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Challenge 1 — GPS Drift in Urban Canyons: </a:t>
            </a:r>
            <a:r>
              <a:rPr sz="1150">
                <a:solidFill>
                  <a:srgbClr val="1E232D"/>
                </a:solidFill>
                <a:latin typeface="Calibri"/>
              </a:rPr>
              <a:t>Mitigated via PostGIS geodesic road-snapping to OpenStreetMap (OSM) vector networks + 15m radius spatial clustering buffer.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Challenge 2 — Cellular Dead Zones / Tunnels: </a:t>
            </a:r>
            <a:r>
              <a:rPr sz="1150">
                <a:solidFill>
                  <a:srgbClr val="1E232D"/>
                </a:solidFill>
                <a:latin typeface="Calibri"/>
              </a:rPr>
              <a:t>Mitigated via edge SQLite circular store-and-forward buffer; zero telemetry loss during network dropouts.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Challenge 3 — Single-Camera False Positives: </a:t>
            </a:r>
            <a:r>
              <a:rPr sz="1150">
                <a:solidFill>
                  <a:srgbClr val="1E232D"/>
                </a:solidFill>
                <a:latin typeface="Calibri"/>
              </a:rPr>
              <a:t>Mitigated via 3-frame edge temporal persistence filter + central multi-bus Bayesian consensus fusion across distinct passes.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Challenge 4 — Privacy &amp; PII Regulations: </a:t>
            </a:r>
            <a:r>
              <a:rPr sz="1150">
                <a:solidFill>
                  <a:srgbClr val="1E232D"/>
                </a:solidFill>
                <a:latin typeface="Calibri"/>
              </a:rPr>
              <a:t>Mitigated via privacy-by-design: automatic on-device Gaussian blurring of faces and license plates prior to transmission.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48840" y="182880"/>
            <a:ext cx="7498079" cy="777240"/>
          </a:xfrm>
        </p:spPr>
        <p:txBody>
          <a:bodyPr wrap="square" lIns="45720"/>
          <a:lstStyle/>
          <a:p>
            <a:pPr eaLnBrk="1" hangingPunct="1" algn="l">
              <a:defRPr sz="2000" b="1">
                <a:solidFill>
                  <a:srgbClr val="0F2240"/>
                </a:solidFill>
                <a:latin typeface="Calibri"/>
              </a:defRPr>
            </a:pPr>
            <a:r>
              <a:t>IMPACT, BENEFITS &amp; STRATEGIC ALIGNMENT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201168"/>
            <a:ext cx="1691640" cy="640080"/>
          </a:xfrm>
          <a:prstGeom prst="ellipse">
            <a:avLst/>
          </a:prstGeom>
          <a:solidFill>
            <a:srgbClr val="F0F5FF"/>
          </a:solidFill>
          <a:ln w="19050">
            <a:solidFill>
              <a:srgbClr val="0078D7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0F2240"/>
                </a:solidFill>
                <a:latin typeface="Calibri"/>
              </a:defRPr>
            </a:pPr>
            <a:r>
              <a:t>The Spartiates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48640" y="1143000"/>
            <a:ext cx="11091672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00529B"/>
                </a:solidFill>
                <a:latin typeface="Calibri"/>
              </a:defRPr>
            </a:pPr>
            <a:r>
              <a:t>POTENTIAL IMPACT ON TARGET AUDIENCE (MUNICIPALITIES, COMMUTERS &amp; BEL)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Municipal Governance: </a:t>
            </a:r>
            <a:r>
              <a:rPr sz="1150">
                <a:solidFill>
                  <a:srgbClr val="1E232D"/>
                </a:solidFill>
                <a:latin typeface="Calibri"/>
              </a:rPr>
              <a:t>Replaces reactive citizen complaints with audited, timestamped, GPS-verified road health work orders and automated contractor SLA tracking.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Public Safety &amp; Commuters: </a:t>
            </a:r>
            <a:r>
              <a:rPr sz="1150">
                <a:solidFill>
                  <a:srgbClr val="1E232D"/>
                </a:solidFill>
                <a:latin typeface="Calibri"/>
              </a:rPr>
              <a:t>Addresses India's critical road safety challenge (4,000+ annual pothole fatalities); eliminates accident hazards and monsoon waterlogging bottlenecks.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BEL &amp; Strategic Dual-Use: </a:t>
            </a:r>
            <a:r>
              <a:rPr sz="1150">
                <a:solidFill>
                  <a:srgbClr val="1E232D"/>
                </a:solidFill>
                <a:latin typeface="Calibri"/>
              </a:rPr>
              <a:t>Directly integrates into Bharat Electronics Limited Smart City ICCC platforms; dual-use applicability for military convoy route clearance.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00529B"/>
                </a:solidFill>
                <a:latin typeface="Calibri"/>
              </a:defRPr>
            </a:pPr>
            <a:r>
              <a:t>DIRECT &amp; QUANTIFIABLE BENEFITS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Economic &amp; Financial: </a:t>
            </a:r>
            <a:r>
              <a:rPr sz="1150">
                <a:solidFill>
                  <a:srgbClr val="1E232D"/>
                </a:solidFill>
                <a:latin typeface="Calibri"/>
              </a:rPr>
              <a:t>&gt;85% cost reduction in road survey operations; timely micro-repairs prevent costly full-depth road reconstruction ($1 vs $10 repair rule).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Citizen Vehicle Savings: </a:t>
            </a:r>
            <a:r>
              <a:rPr sz="1150">
                <a:solidFill>
                  <a:srgbClr val="1E232D"/>
                </a:solidFill>
                <a:latin typeface="Calibri"/>
              </a:rPr>
              <a:t>Significant reduction in tire blowouts, suspension damages, and vehicular wear-and-tear for urban commuters.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Environmental &amp; Traffic Flow: </a:t>
            </a:r>
            <a:r>
              <a:rPr sz="1150">
                <a:solidFill>
                  <a:srgbClr val="1E232D"/>
                </a:solidFill>
                <a:latin typeface="Calibri"/>
              </a:rPr>
              <a:t>Prevents traffic slowdowns caused by bad road patches, reducing commuter idle time and urban carbon emissions.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48840" y="182880"/>
            <a:ext cx="7498079" cy="777240"/>
          </a:xfrm>
        </p:spPr>
        <p:txBody>
          <a:bodyPr wrap="square" lIns="45720"/>
          <a:lstStyle/>
          <a:p>
            <a:pPr eaLnBrk="1" hangingPunct="1" algn="l">
              <a:defRPr sz="2000" b="1">
                <a:solidFill>
                  <a:srgbClr val="0F2240"/>
                </a:solidFill>
                <a:latin typeface="Calibri"/>
              </a:defRPr>
            </a:pPr>
            <a:r>
              <a:t>RESEARCH FOUNDATIONS, BENCHMARKS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201168"/>
            <a:ext cx="1691640" cy="640080"/>
          </a:xfrm>
          <a:prstGeom prst="ellipse">
            <a:avLst/>
          </a:prstGeom>
          <a:solidFill>
            <a:srgbClr val="F0F5FF"/>
          </a:solidFill>
          <a:ln w="19050">
            <a:solidFill>
              <a:srgbClr val="0078D7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45720" rIns="45720"/>
          <a:lstStyle/>
          <a:p>
            <a:pPr algn="ctr">
              <a:defRPr sz="1100" b="1">
                <a:solidFill>
                  <a:srgbClr val="0F2240"/>
                </a:solidFill>
                <a:latin typeface="Calibri"/>
              </a:defRPr>
            </a:pPr>
            <a:r>
              <a:t>The Spartiates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48640" y="1143000"/>
            <a:ext cx="11091672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00529B"/>
                </a:solidFill>
                <a:latin typeface="Calibri"/>
              </a:defRPr>
            </a:pPr>
            <a:r>
              <a:t>BENCHMARK DATASETS &amp; TECHNICAL STANDARDS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Road Damage Dataset (RDD2022): </a:t>
            </a:r>
            <a:r>
              <a:rPr sz="1150">
                <a:solidFill>
                  <a:srgbClr val="1E232D"/>
                </a:solidFill>
                <a:latin typeface="Calibri"/>
              </a:rPr>
              <a:t>Global multi-national benchmark dataset containing 47,000+ annotated road distress images across 6 countries (IEEE BigData / CVPR).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OpenStreetMap (OSM) Vector Road Topology: </a:t>
            </a:r>
            <a:r>
              <a:rPr sz="1150">
                <a:solidFill>
                  <a:srgbClr val="1E232D"/>
                </a:solidFill>
                <a:latin typeface="Calibri"/>
              </a:rPr>
              <a:t>Geodesic network topology dataset utilized for road-segment snapping and traffic attribution.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Indian Roads Congress (IRC:SP:19 &amp; IRC:82): </a:t>
            </a:r>
            <a:r>
              <a:rPr sz="1150">
                <a:solidFill>
                  <a:srgbClr val="1E232D"/>
                </a:solidFill>
                <a:latin typeface="Calibri"/>
              </a:rPr>
              <a:t>Standards for maintenance and classification of asphalt/concrete road distresses.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MoRTH India Annual Road Accident Reports: </a:t>
            </a:r>
            <a:r>
              <a:rPr sz="1150">
                <a:solidFill>
                  <a:srgbClr val="1E232D"/>
                </a:solidFill>
                <a:latin typeface="Calibri"/>
              </a:rPr>
              <a:t>Ministry of Road Transport &amp; Highways empirical causality and infrastructure defect data.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1">
                <a:solidFill>
                  <a:srgbClr val="00529B"/>
                </a:solidFill>
                <a:latin typeface="Calibri"/>
              </a:defRPr>
            </a:pPr>
            <a:r>
              <a:t>PEER-REVIEWED ACADEMIC CITATIONS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1. Arya, D. et al. (2022): </a:t>
            </a:r>
            <a:r>
              <a:rPr sz="1150">
                <a:solidFill>
                  <a:srgbClr val="1E232D"/>
                </a:solidFill>
                <a:latin typeface="Calibri"/>
              </a:rPr>
              <a:t>"Global Road Damage Detection: State-of-the-Art Deep Learning Models and Benchmark Dataset" — IEEE Trans. on Intelligent Transportation Systems.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2. Ester, M. et al. (1996): </a:t>
            </a:r>
            <a:r>
              <a:rPr sz="1150">
                <a:solidFill>
                  <a:srgbClr val="1E232D"/>
                </a:solidFill>
                <a:latin typeface="Calibri"/>
              </a:rPr>
              <a:t>"A Density-Based Algorithm for Discovering Clusters in Large Spatial Databases with Noise (ST-DBSCAN)" — Proc. of KDD.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3. Ultralytics (2024): </a:t>
            </a:r>
            <a:r>
              <a:rPr sz="1150">
                <a:solidFill>
                  <a:srgbClr val="1E232D"/>
                </a:solidFill>
                <a:latin typeface="Calibri"/>
              </a:rPr>
              <a:t>"YOLOv8 &amp; YOLOv11 Real-Time Object Detection and Edge Acceleration Architecture" — TensorRT &amp; ONNX deployment pipelines.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4. Zhang, Y. et al. (2022): </a:t>
            </a:r>
            <a:r>
              <a:rPr sz="1150">
                <a:solidFill>
                  <a:srgbClr val="1E232D"/>
                </a:solidFill>
                <a:latin typeface="Calibri"/>
              </a:rPr>
              <a:t>"ByteTrack: Multi-Object Tracking by Associating Every Detection Box" — European Conference on Computer Vision (ECCV).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2240"/>
                </a:solidFill>
                <a:latin typeface="Calibri"/>
              </a:rPr>
              <a:t>   • 5. PostGIS &amp; OGC Guidelines: </a:t>
            </a:r>
            <a:r>
              <a:rPr sz="1150">
                <a:solidFill>
                  <a:srgbClr val="1E232D"/>
                </a:solidFill>
                <a:latin typeface="Calibri"/>
              </a:rPr>
              <a:t>"Spatial and Geographic Objects for PostgreSQL Systems" — Open Geospatial Consortium (OGC) specifications.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